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98" r:id="rId3"/>
    <p:sldId id="299" r:id="rId4"/>
    <p:sldId id="300" r:id="rId5"/>
    <p:sldId id="301" r:id="rId6"/>
    <p:sldId id="302" r:id="rId7"/>
    <p:sldId id="303" r:id="rId8"/>
    <p:sldId id="308" r:id="rId9"/>
    <p:sldId id="305" r:id="rId10"/>
    <p:sldId id="307" r:id="rId11"/>
    <p:sldId id="304" r:id="rId12"/>
    <p:sldId id="306" r:id="rId13"/>
    <p:sldId id="30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82945E-0C98-4608-9897-B8CCB16FA10D}" type="datetimeFigureOut">
              <a:rPr lang="en-IN" smtClean="0"/>
              <a:t>26-06-2026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1B8D3E-174C-45A5-963C-6A840E4BE4C0}" type="slidenum">
              <a:rPr lang="en-IN" smtClean="0"/>
              <a:t>‹#›</a:t>
            </a:fld>
            <a:endParaRPr lang="en-IN"/>
          </a:p>
        </p:txBody>
      </p:sp>
    </p:spTree>
    <p:extLst>
      <p:ext uri="{BB962C8B-B14F-4D97-AF65-F5344CB8AC3E}">
        <p14:creationId xmlns:p14="http://schemas.microsoft.com/office/powerpoint/2010/main" val="3941191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6EAE-9709-49E3-9D09-DF49288CBEB5}" type="datetime1">
              <a:rPr lang="en-IN" smtClean="0"/>
              <a:t>26-06-2026</a:t>
            </a:fld>
            <a:endParaRPr lang="en-IN" dirty="0"/>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CE4F2295-6AEF-4787-F327-B5B3339595D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2">
            <a:extLst>
              <a:ext uri="{FF2B5EF4-FFF2-40B4-BE49-F238E27FC236}">
                <a16:creationId xmlns:a16="http://schemas.microsoft.com/office/drawing/2014/main" id="{21D313A2-745B-DE31-A14C-6DC7B4B06C71}"/>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253464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A9FDA45F-F1CD-41DA-BA29-EE146599C94B}" type="datetime1">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F508EA8F-B4E2-3C42-A5CC-2F45DACAEA8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2">
            <a:extLst>
              <a:ext uri="{FF2B5EF4-FFF2-40B4-BE49-F238E27FC236}">
                <a16:creationId xmlns:a16="http://schemas.microsoft.com/office/drawing/2014/main" id="{9BAA8F0E-F904-0C29-7E58-1EA8317F934E}"/>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576699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z="1600" b="1"/>
            </a:lvl1pPr>
          </a:lstStyle>
          <a:p>
            <a:fld id="{B4B4BD06-C707-4ECB-B568-73D1461E3867}" type="datetime1">
              <a:rPr lang="en-IN" smtClean="0"/>
              <a:pPr/>
              <a:t>26-06-2026</a:t>
            </a:fld>
            <a:endParaRPr lang="en-IN" b="1"/>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lvl1pPr>
              <a:defRPr sz="1600" b="1"/>
            </a:lvl1pPr>
          </a:lstStyle>
          <a:p>
            <a:fld id="{75FB8137-F6AA-4E86-959E-1B3561B3F039}" type="slidenum">
              <a:rPr lang="en-IN" smtClean="0"/>
              <a:pPr/>
              <a:t>‹#›</a:t>
            </a:fld>
            <a:endParaRPr lang="en-IN" b="1"/>
          </a:p>
        </p:txBody>
      </p:sp>
      <p:pic>
        <p:nvPicPr>
          <p:cNvPr id="8" name="Picture 2" descr="Startup 20">
            <a:extLst>
              <a:ext uri="{FF2B5EF4-FFF2-40B4-BE49-F238E27FC236}">
                <a16:creationId xmlns:a16="http://schemas.microsoft.com/office/drawing/2014/main" id="{9B24C2D6-F41B-05C4-DCA3-B404E0D4E3C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2">
            <a:extLst>
              <a:ext uri="{FF2B5EF4-FFF2-40B4-BE49-F238E27FC236}">
                <a16:creationId xmlns:a16="http://schemas.microsoft.com/office/drawing/2014/main" id="{D43C5703-7AC8-2BA1-393D-CD09AC701454}"/>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297844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E227FF-BB99-4261-B1FD-3F822A477C71}" type="datetime1">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30A23F64-2680-225F-FB9F-D400C31927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002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36F1C89-564E-4D4B-B799-5EE666708D20}" type="datetime1">
              <a:rPr lang="en-IN" smtClean="0"/>
              <a:t>26-06-2026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FB8137-F6AA-4E86-959E-1B3561B3F039}" type="slidenum">
              <a:rPr lang="en-IN" smtClean="0"/>
              <a:t>‹#›</a:t>
            </a:fld>
            <a:endParaRPr lang="en-IN"/>
          </a:p>
        </p:txBody>
      </p:sp>
      <p:pic>
        <p:nvPicPr>
          <p:cNvPr id="11" name="Picture 2" descr="Startup 20">
            <a:extLst>
              <a:ext uri="{FF2B5EF4-FFF2-40B4-BE49-F238E27FC236}">
                <a16:creationId xmlns:a16="http://schemas.microsoft.com/office/drawing/2014/main" id="{DBD96398-B0AB-F6F6-A8C3-8504654B8AE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94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192F782-7CD5-4FC8-B84E-61B3C475D8E0}" type="datetime1">
              <a:rPr lang="en-IN" smtClean="0"/>
              <a:t>26-06-2026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96D74072-F32F-6E6F-2F24-CABF556F60D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tartup 20">
            <a:extLst>
              <a:ext uri="{FF2B5EF4-FFF2-40B4-BE49-F238E27FC236}">
                <a16:creationId xmlns:a16="http://schemas.microsoft.com/office/drawing/2014/main" id="{8F2886BC-5857-A5E2-083E-FBF0705B558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63200" y="2889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116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92139-4228-4E1E-AE34-D1AC707B480F}" type="datetime1">
              <a:rPr lang="en-IN" smtClean="0"/>
              <a:t>26-06-2026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FB8137-F6AA-4E86-959E-1B3561B3F039}" type="slidenum">
              <a:rPr lang="en-IN" smtClean="0"/>
              <a:t>‹#›</a:t>
            </a:fld>
            <a:endParaRPr lang="en-IN"/>
          </a:p>
        </p:txBody>
      </p:sp>
      <p:pic>
        <p:nvPicPr>
          <p:cNvPr id="6" name="Picture 2" descr="Startup 20">
            <a:extLst>
              <a:ext uri="{FF2B5EF4-FFF2-40B4-BE49-F238E27FC236}">
                <a16:creationId xmlns:a16="http://schemas.microsoft.com/office/drawing/2014/main" id="{303214BA-6D8A-0649-717D-0809813905E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66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937A5C-3DAF-4449-AA2B-8CCFC542C1C4}" type="datetime1">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8528EC7E-42E1-E14A-977A-7187EE77BF6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601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ED77D4-720D-4278-A961-3910D5FF5A20}" type="datetime1">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231E13D4-D8BF-FF2C-E90B-3AA52F08EEC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66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BA1C-C95D-4B1D-9753-55BC791973F6}" type="datetime1">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8" name="Picture 2" descr="Startup 20">
            <a:extLst>
              <a:ext uri="{FF2B5EF4-FFF2-40B4-BE49-F238E27FC236}">
                <a16:creationId xmlns:a16="http://schemas.microsoft.com/office/drawing/2014/main" id="{79ABC2DC-8FE1-32D1-AB55-46D5EB11C5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866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1021CF-FD19-4CFD-9A6E-81D4C4756A2F}" type="datetime1">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8" name="Picture 2" descr="Startup 20">
            <a:extLst>
              <a:ext uri="{FF2B5EF4-FFF2-40B4-BE49-F238E27FC236}">
                <a16:creationId xmlns:a16="http://schemas.microsoft.com/office/drawing/2014/main" id="{775BEE5D-F035-7E6F-5722-CC1C455EDEC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73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b="1">
                <a:solidFill>
                  <a:schemeClr val="tx1">
                    <a:tint val="75000"/>
                  </a:schemeClr>
                </a:solidFill>
              </a:defRPr>
            </a:lvl1pPr>
          </a:lstStyle>
          <a:p>
            <a:fld id="{332A2292-8BE8-41D2-A32D-BB37E572F7D6}" type="datetime1">
              <a:rPr lang="en-IN" smtClean="0"/>
              <a:pPr/>
              <a:t>26-06-2026</a:t>
            </a:fld>
            <a:endParaRPr lang="en-IN" b="1"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fld id="{75FB8137-F6AA-4E86-959E-1B3561B3F039}" type="slidenum">
              <a:rPr lang="en-IN" smtClean="0"/>
              <a:pPr/>
              <a:t>‹#›</a:t>
            </a:fld>
            <a:endParaRPr lang="en-IN" b="1" dirty="0"/>
          </a:p>
        </p:txBody>
      </p:sp>
    </p:spTree>
    <p:extLst>
      <p:ext uri="{BB962C8B-B14F-4D97-AF65-F5344CB8AC3E}">
        <p14:creationId xmlns:p14="http://schemas.microsoft.com/office/powerpoint/2010/main" val="460177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1822" y="2130037"/>
            <a:ext cx="9144000" cy="3305836"/>
          </a:xfrm>
        </p:spPr>
        <p:txBody>
          <a:bodyPr>
            <a:normAutofit/>
          </a:bodyPr>
          <a:lstStyle/>
          <a:p>
            <a:r>
              <a:rPr lang="en-US" sz="2800" dirty="0"/>
              <a:t>Department of Computer Science and Engineering</a:t>
            </a:r>
          </a:p>
          <a:p>
            <a:r>
              <a:rPr lang="en-US" sz="2800" dirty="0">
                <a:solidFill>
                  <a:srgbClr val="FF0000"/>
                </a:solidFill>
              </a:rPr>
              <a:t>EMBEDDED PROGRAMMING  </a:t>
            </a:r>
          </a:p>
          <a:p>
            <a:endParaRPr lang="en-US" sz="3600" dirty="0">
              <a:solidFill>
                <a:srgbClr val="FF0000"/>
              </a:solidFill>
            </a:endParaRPr>
          </a:p>
        </p:txBody>
      </p:sp>
      <p:pic>
        <p:nvPicPr>
          <p:cNvPr id="2" name="Image 1">
            <a:extLst>
              <a:ext uri="{FF2B5EF4-FFF2-40B4-BE49-F238E27FC236}">
                <a16:creationId xmlns:a16="http://schemas.microsoft.com/office/drawing/2014/main" id="{D826F17E-A98B-B6DC-057C-8546ECF7AE01}"/>
              </a:ext>
            </a:extLst>
          </p:cNvPr>
          <p:cNvPicPr/>
          <p:nvPr/>
        </p:nvPicPr>
        <p:blipFill>
          <a:blip r:embed="rId2" cstate="print"/>
          <a:stretch>
            <a:fillRect/>
          </a:stretch>
        </p:blipFill>
        <p:spPr>
          <a:xfrm>
            <a:off x="811379" y="159347"/>
            <a:ext cx="8991600" cy="1850571"/>
          </a:xfrm>
          <a:prstGeom prst="rect">
            <a:avLst/>
          </a:prstGeom>
        </p:spPr>
      </p:pic>
      <p:sp>
        <p:nvSpPr>
          <p:cNvPr id="14" name="TextBox 13">
            <a:extLst>
              <a:ext uri="{FF2B5EF4-FFF2-40B4-BE49-F238E27FC236}">
                <a16:creationId xmlns:a16="http://schemas.microsoft.com/office/drawing/2014/main" id="{6A49C6C6-75B3-A59D-487F-F67AC5CE7967}"/>
              </a:ext>
            </a:extLst>
          </p:cNvPr>
          <p:cNvSpPr txBox="1"/>
          <p:nvPr/>
        </p:nvSpPr>
        <p:spPr>
          <a:xfrm>
            <a:off x="1339024" y="3413623"/>
            <a:ext cx="11281094" cy="738664"/>
          </a:xfrm>
          <a:prstGeom prst="rect">
            <a:avLst/>
          </a:prstGeom>
          <a:noFill/>
        </p:spPr>
        <p:txBody>
          <a:bodyPr wrap="square">
            <a:spAutoFit/>
          </a:bodyPr>
          <a:lstStyle/>
          <a:p>
            <a:r>
              <a:rPr sz="2400" b="1" dirty="0">
                <a:latin typeface="Times New Roman" panose="02020603050405020304" pitchFamily="18" charset="0"/>
                <a:cs typeface="Times New Roman" panose="02020603050405020304" pitchFamily="18" charset="0"/>
              </a:rPr>
              <a:t>CHIRALNET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Distributed Wi‑Fi Coverage Analysis &amp; Optimization System</a:t>
            </a:r>
          </a:p>
          <a:p>
            <a:endParaRPr dirty="0"/>
          </a:p>
        </p:txBody>
      </p:sp>
      <p:sp>
        <p:nvSpPr>
          <p:cNvPr id="18" name="Rectangle 3">
            <a:extLst>
              <a:ext uri="{FF2B5EF4-FFF2-40B4-BE49-F238E27FC236}">
                <a16:creationId xmlns:a16="http://schemas.microsoft.com/office/drawing/2014/main" id="{AFE3F3CE-0A38-5B04-A5E0-FC8516908F1A}"/>
              </a:ext>
            </a:extLst>
          </p:cNvPr>
          <p:cNvSpPr>
            <a:spLocks noChangeArrowheads="1"/>
          </p:cNvSpPr>
          <p:nvPr/>
        </p:nvSpPr>
        <p:spPr bwMode="auto">
          <a:xfrm>
            <a:off x="6979571" y="4415141"/>
            <a:ext cx="4437062" cy="843308"/>
          </a:xfrm>
          <a:prstGeom prst="rect">
            <a:avLst/>
          </a:prstGeom>
          <a:solidFill>
            <a:schemeClr val="bg1"/>
          </a:solid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lnSpc>
                <a:spcPct val="100000"/>
              </a:lnSpc>
              <a:spcBef>
                <a:spcPct val="20000"/>
              </a:spcBef>
              <a:buFontTx/>
              <a:buNone/>
            </a:pPr>
            <a:r>
              <a:rPr lang="en-US" altLang="en-US" sz="2000" b="1" dirty="0">
                <a:solidFill>
                  <a:srgbClr val="000000"/>
                </a:solidFill>
                <a:latin typeface="Times New Roman" panose="02020603050405020304" pitchFamily="18" charset="0"/>
                <a:cs typeface="Times New Roman" panose="02020603050405020304" pitchFamily="18" charset="0"/>
              </a:rPr>
              <a:t>Supervisor</a:t>
            </a:r>
          </a:p>
          <a:p>
            <a:pPr algn="r" eaLnBrk="1" hangingPunct="1">
              <a:lnSpc>
                <a:spcPct val="100000"/>
              </a:lnSpc>
              <a:spcBef>
                <a:spcPct val="20000"/>
              </a:spcBef>
              <a:buFontTx/>
              <a:buNone/>
            </a:pPr>
            <a:r>
              <a:rPr lang="en-US" altLang="en-US" sz="2400" dirty="0">
                <a:solidFill>
                  <a:srgbClr val="000000"/>
                </a:solidFill>
                <a:latin typeface="Times New Roman" panose="02020603050405020304" pitchFamily="18" charset="0"/>
                <a:cs typeface="Times New Roman" panose="02020603050405020304" pitchFamily="18" charset="0"/>
              </a:rPr>
              <a:t>Mr. </a:t>
            </a:r>
            <a:r>
              <a:rPr lang="en-US" altLang="en-US" sz="2400" dirty="0" err="1">
                <a:solidFill>
                  <a:srgbClr val="000000"/>
                </a:solidFill>
                <a:latin typeface="Times New Roman" panose="02020603050405020304" pitchFamily="18" charset="0"/>
                <a:cs typeface="Times New Roman" panose="02020603050405020304" pitchFamily="18" charset="0"/>
              </a:rPr>
              <a:t>Muthupandi</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19" name="Subtitle 2">
            <a:extLst>
              <a:ext uri="{FF2B5EF4-FFF2-40B4-BE49-F238E27FC236}">
                <a16:creationId xmlns:a16="http://schemas.microsoft.com/office/drawing/2014/main" id="{0A147CFF-E830-BA67-DABF-02B8AF3A1693}"/>
              </a:ext>
            </a:extLst>
          </p:cNvPr>
          <p:cNvSpPr txBox="1">
            <a:spLocks/>
          </p:cNvSpPr>
          <p:nvPr/>
        </p:nvSpPr>
        <p:spPr>
          <a:xfrm>
            <a:off x="665974" y="4415141"/>
            <a:ext cx="4562669" cy="2387599"/>
          </a:xfrm>
          <a:prstGeom prst="rect">
            <a:avLst/>
          </a:prstGeom>
          <a:solidFill>
            <a:schemeClr val="bg1"/>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dirty="0">
                <a:latin typeface="Times New Roman" panose="02020603050405020304" pitchFamily="18" charset="0"/>
                <a:cs typeface="Times New Roman" panose="02020603050405020304" pitchFamily="18" charset="0"/>
              </a:rPr>
              <a:t>Presentation by</a:t>
            </a:r>
          </a:p>
          <a:p>
            <a:r>
              <a:rPr dirty="0" err="1">
                <a:latin typeface="Times New Roman" panose="02020603050405020304" pitchFamily="18" charset="0"/>
                <a:cs typeface="Times New Roman" panose="02020603050405020304" pitchFamily="18" charset="0"/>
              </a:rPr>
              <a:t>Dakshan</a:t>
            </a:r>
            <a:r>
              <a:rPr dirty="0">
                <a:latin typeface="Times New Roman" panose="02020603050405020304" pitchFamily="18" charset="0"/>
                <a:cs typeface="Times New Roman" panose="02020603050405020304" pitchFamily="18" charset="0"/>
              </a:rPr>
              <a:t> Kumar S</a:t>
            </a:r>
            <a:r>
              <a:rPr lang="en-US" dirty="0">
                <a:latin typeface="Times New Roman" panose="02020603050405020304" pitchFamily="18" charset="0"/>
                <a:cs typeface="Times New Roman" panose="02020603050405020304" pitchFamily="18" charset="0"/>
              </a:rPr>
              <a:t> – 24CS0165</a:t>
            </a:r>
          </a:p>
          <a:p>
            <a:r>
              <a:rPr lang="en-US" dirty="0">
                <a:latin typeface="Times New Roman" panose="02020603050405020304" pitchFamily="18" charset="0"/>
                <a:cs typeface="Times New Roman" panose="02020603050405020304" pitchFamily="18" charset="0"/>
              </a:rPr>
              <a:t>D Prince Piriyan    – 24CS0163</a:t>
            </a:r>
            <a:endParaRPr dirty="0">
              <a:latin typeface="Times New Roman" panose="02020603050405020304" pitchFamily="18" charset="0"/>
              <a:cs typeface="Times New Roman" panose="02020603050405020304" pitchFamily="18" charset="0"/>
            </a:endParaRPr>
          </a:p>
        </p:txBody>
      </p:sp>
      <p:sp>
        <p:nvSpPr>
          <p:cNvPr id="20" name="Footer Placeholder 2">
            <a:extLst>
              <a:ext uri="{FF2B5EF4-FFF2-40B4-BE49-F238E27FC236}">
                <a16:creationId xmlns:a16="http://schemas.microsoft.com/office/drawing/2014/main" id="{33C155FE-8E1F-5493-5BFD-9E9E1B54EE9F}"/>
              </a:ext>
            </a:extLst>
          </p:cNvPr>
          <p:cNvSpPr txBox="1">
            <a:spLocks/>
          </p:cNvSpPr>
          <p:nvPr/>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10199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EDFB-9D67-1544-8DCF-2EA05B7BED02}"/>
              </a:ext>
            </a:extLst>
          </p:cNvPr>
          <p:cNvSpPr>
            <a:spLocks noGrp="1"/>
          </p:cNvSpPr>
          <p:nvPr>
            <p:ph type="title"/>
          </p:nvPr>
        </p:nvSpPr>
        <p:spPr>
          <a:xfrm>
            <a:off x="4067783" y="0"/>
            <a:ext cx="10515600" cy="1009651"/>
          </a:xfrm>
        </p:spPr>
        <p:txBody>
          <a:bodyPr/>
          <a:lstStyle/>
          <a:p>
            <a:r>
              <a:rPr lang="en-IN" dirty="0"/>
              <a:t> </a:t>
            </a:r>
            <a:r>
              <a:rPr lang="en-IN" b="1" dirty="0">
                <a:latin typeface="Times New Roman" panose="02020603050405020304" pitchFamily="18" charset="0"/>
                <a:cs typeface="Times New Roman" panose="02020603050405020304" pitchFamily="18" charset="0"/>
              </a:rPr>
              <a:t>CONTENTS</a:t>
            </a:r>
            <a:endParaRPr lang="en-IN" dirty="0"/>
          </a:p>
        </p:txBody>
      </p:sp>
      <p:sp>
        <p:nvSpPr>
          <p:cNvPr id="3" name="Content Placeholder 2">
            <a:extLst>
              <a:ext uri="{FF2B5EF4-FFF2-40B4-BE49-F238E27FC236}">
                <a16:creationId xmlns:a16="http://schemas.microsoft.com/office/drawing/2014/main" id="{06B9BDFD-C889-2BA2-AF99-5AE9671A1CA8}"/>
              </a:ext>
            </a:extLst>
          </p:cNvPr>
          <p:cNvSpPr>
            <a:spLocks noGrp="1"/>
          </p:cNvSpPr>
          <p:nvPr>
            <p:ph idx="1"/>
          </p:nvPr>
        </p:nvSpPr>
        <p:spPr>
          <a:xfrm>
            <a:off x="838200" y="1138136"/>
            <a:ext cx="10515600" cy="4951278"/>
          </a:xfrm>
        </p:spPr>
        <p:txBody>
          <a:bodyPr/>
          <a:lstStyle/>
          <a:p>
            <a:pPr marL="571500" indent="-571500">
              <a:buAutoNum type="romanUcPeriod"/>
            </a:pPr>
            <a:r>
              <a:rPr lang="en-IN" b="1" dirty="0">
                <a:latin typeface="Times New Roman" panose="02020603050405020304" pitchFamily="18" charset="0"/>
                <a:cs typeface="Times New Roman" panose="02020603050405020304" pitchFamily="18" charset="0"/>
              </a:rPr>
              <a:t>Introduction</a:t>
            </a:r>
          </a:p>
          <a:p>
            <a:pPr marL="571500" indent="-571500">
              <a:buAutoNum type="romanUcPeriod"/>
            </a:pPr>
            <a:r>
              <a:rPr lang="en-IN" b="1" dirty="0">
                <a:latin typeface="Times New Roman" panose="02020603050405020304" pitchFamily="18" charset="0"/>
                <a:cs typeface="Times New Roman" panose="02020603050405020304" pitchFamily="18" charset="0"/>
              </a:rPr>
              <a:t>Problem Statement </a:t>
            </a:r>
          </a:p>
          <a:p>
            <a:pPr marL="571500" indent="-571500">
              <a:buAutoNum type="romanUcPeriod"/>
            </a:pPr>
            <a:r>
              <a:rPr lang="en-IN" b="1" dirty="0">
                <a:latin typeface="Times New Roman" panose="02020603050405020304" pitchFamily="18" charset="0"/>
                <a:cs typeface="Times New Roman" panose="02020603050405020304" pitchFamily="18" charset="0"/>
              </a:rPr>
              <a:t>Project Description </a:t>
            </a:r>
          </a:p>
          <a:p>
            <a:pPr marL="571500" indent="-571500">
              <a:buAutoNum type="romanUcPeriod"/>
            </a:pPr>
            <a:r>
              <a:rPr lang="en-IN" b="1" dirty="0">
                <a:latin typeface="Times New Roman" panose="02020603050405020304" pitchFamily="18" charset="0"/>
                <a:cs typeface="Times New Roman" panose="02020603050405020304" pitchFamily="18" charset="0"/>
              </a:rPr>
              <a:t>Aim and Scope of the Proposed work</a:t>
            </a:r>
          </a:p>
          <a:p>
            <a:pPr marL="571500" indent="-571500">
              <a:buAutoNum type="romanUcPeriod"/>
            </a:pPr>
            <a:r>
              <a:rPr lang="en-IN" b="1" dirty="0">
                <a:latin typeface="Times New Roman" panose="02020603050405020304" pitchFamily="18" charset="0"/>
                <a:cs typeface="Times New Roman" panose="02020603050405020304" pitchFamily="18" charset="0"/>
              </a:rPr>
              <a:t>Literature Survey</a:t>
            </a:r>
          </a:p>
          <a:p>
            <a:pPr marL="571500" indent="-571500">
              <a:buAutoNum type="romanUcPeriod"/>
            </a:pPr>
            <a:r>
              <a:rPr lang="en-IN" b="1" dirty="0">
                <a:latin typeface="Times New Roman" panose="02020603050405020304" pitchFamily="18" charset="0"/>
                <a:cs typeface="Times New Roman" panose="02020603050405020304" pitchFamily="18" charset="0"/>
              </a:rPr>
              <a:t>Hardware Component </a:t>
            </a:r>
          </a:p>
          <a:p>
            <a:pPr marL="571500" indent="-571500">
              <a:buAutoNum type="romanUcPeriod"/>
            </a:pPr>
            <a:r>
              <a:rPr lang="en-IN" b="1" dirty="0">
                <a:latin typeface="Times New Roman" panose="02020603050405020304" pitchFamily="18" charset="0"/>
                <a:cs typeface="Times New Roman" panose="02020603050405020304" pitchFamily="18" charset="0"/>
              </a:rPr>
              <a:t>Block Diagram Design</a:t>
            </a:r>
          </a:p>
          <a:p>
            <a:pPr marL="571500" indent="-571500">
              <a:buAutoNum type="romanUcPeriod"/>
            </a:pPr>
            <a:r>
              <a:rPr lang="en-IN" b="1" dirty="0">
                <a:latin typeface="Times New Roman" panose="02020603050405020304" pitchFamily="18" charset="0"/>
                <a:cs typeface="Times New Roman" panose="02020603050405020304" pitchFamily="18" charset="0"/>
              </a:rPr>
              <a:t>Project Planning</a:t>
            </a:r>
          </a:p>
          <a:p>
            <a:pPr marL="0" indent="0">
              <a:buNone/>
            </a:pPr>
            <a:endParaRPr lang="en-IN" dirty="0"/>
          </a:p>
        </p:txBody>
      </p:sp>
      <p:sp>
        <p:nvSpPr>
          <p:cNvPr id="4" name="Date Placeholder 3">
            <a:extLst>
              <a:ext uri="{FF2B5EF4-FFF2-40B4-BE49-F238E27FC236}">
                <a16:creationId xmlns:a16="http://schemas.microsoft.com/office/drawing/2014/main" id="{66A00C09-79CD-D5FF-4B1E-B6109C06D073}"/>
              </a:ext>
            </a:extLst>
          </p:cNvPr>
          <p:cNvSpPr>
            <a:spLocks noGrp="1"/>
          </p:cNvSpPr>
          <p:nvPr>
            <p:ph type="dt" sz="half" idx="10"/>
          </p:nvPr>
        </p:nvSpPr>
        <p:spPr/>
        <p:txBody>
          <a:bodyPr/>
          <a:lstStyle/>
          <a:p>
            <a:fld id="{B5B325EE-5BC8-4C2B-A4D7-1023B1CB6184}" type="datetime1">
              <a:rPr lang="en-IN" sz="1600" b="1" smtClean="0"/>
              <a:t>26-06-2026</a:t>
            </a:fld>
            <a:endParaRPr lang="en-IN" b="1" dirty="0"/>
          </a:p>
        </p:txBody>
      </p:sp>
      <p:sp>
        <p:nvSpPr>
          <p:cNvPr id="5" name="Slide Number Placeholder 4">
            <a:extLst>
              <a:ext uri="{FF2B5EF4-FFF2-40B4-BE49-F238E27FC236}">
                <a16:creationId xmlns:a16="http://schemas.microsoft.com/office/drawing/2014/main" id="{9988C0C3-315E-F140-5B03-3CA67C3F3B1F}"/>
              </a:ext>
            </a:extLst>
          </p:cNvPr>
          <p:cNvSpPr>
            <a:spLocks noGrp="1"/>
          </p:cNvSpPr>
          <p:nvPr>
            <p:ph type="sldNum" sz="quarter" idx="12"/>
          </p:nvPr>
        </p:nvSpPr>
        <p:spPr/>
        <p:txBody>
          <a:bodyPr/>
          <a:lstStyle/>
          <a:p>
            <a:fld id="{75FB8137-F6AA-4E86-959E-1B3561B3F039}" type="slidenum">
              <a:rPr lang="en-IN" sz="1800" b="1" smtClean="0"/>
              <a:t>2</a:t>
            </a:fld>
            <a:endParaRPr lang="en-IN" sz="1800" b="1"/>
          </a:p>
        </p:txBody>
      </p:sp>
    </p:spTree>
    <p:extLst>
      <p:ext uri="{BB962C8B-B14F-4D97-AF65-F5344CB8AC3E}">
        <p14:creationId xmlns:p14="http://schemas.microsoft.com/office/powerpoint/2010/main" val="239140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A21A-54F0-4716-29D9-ECF7E9AFAC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C92BC16-1F6B-7190-668A-D7B311670D91}"/>
              </a:ext>
            </a:extLst>
          </p:cNvPr>
          <p:cNvSpPr>
            <a:spLocks noGrp="1"/>
          </p:cNvSpPr>
          <p:nvPr>
            <p:ph idx="1"/>
          </p:nvPr>
        </p:nvSpPr>
        <p:spPr>
          <a:xfrm>
            <a:off x="838200" y="2005012"/>
            <a:ext cx="10515600" cy="4351338"/>
          </a:xfrm>
        </p:spPr>
        <p:txBody>
          <a:bodyPr/>
          <a:lstStyle/>
          <a:p>
            <a:pPr marL="0" indent="0">
              <a:buNone/>
            </a:pPr>
            <a:r>
              <a:rPr b="1" dirty="0" err="1"/>
              <a:t>ChiralNet</a:t>
            </a:r>
            <a:r>
              <a:rPr dirty="0"/>
              <a:t> is an IoT-based wireless network diagnostics system using </a:t>
            </a:r>
            <a:r>
              <a:rPr b="1" dirty="0"/>
              <a:t>multiple ESP32 nodes</a:t>
            </a:r>
            <a:r>
              <a:rPr dirty="0"/>
              <a:t> placed in different locations. The nodes collect Wi‑Fi metrics such as </a:t>
            </a:r>
            <a:r>
              <a:rPr b="1" dirty="0"/>
              <a:t>RSSI, latency, and channel information</a:t>
            </a:r>
            <a:r>
              <a:rPr dirty="0"/>
              <a:t>. Data is sent to a central dashboard for analysis, visualization, and optimization recommendations. The system helps identify dead zones and improve wireless coverage.</a:t>
            </a:r>
          </a:p>
        </p:txBody>
      </p:sp>
      <p:sp>
        <p:nvSpPr>
          <p:cNvPr id="4" name="Date Placeholder 3">
            <a:extLst>
              <a:ext uri="{FF2B5EF4-FFF2-40B4-BE49-F238E27FC236}">
                <a16:creationId xmlns:a16="http://schemas.microsoft.com/office/drawing/2014/main" id="{FA56DD0B-5AED-6801-2D16-ECDF81128B1C}"/>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23FEF410-956F-797B-C0DC-A65953A2E37C}"/>
              </a:ext>
            </a:extLst>
          </p:cNvPr>
          <p:cNvSpPr>
            <a:spLocks noGrp="1"/>
          </p:cNvSpPr>
          <p:nvPr>
            <p:ph type="sldNum" sz="quarter" idx="12"/>
          </p:nvPr>
        </p:nvSpPr>
        <p:spPr/>
        <p:txBody>
          <a:bodyPr/>
          <a:lstStyle/>
          <a:p>
            <a:fld id="{75FB8137-F6AA-4E86-959E-1B3561B3F039}" type="slidenum">
              <a:rPr lang="en-IN" smtClean="0"/>
              <a:t>3</a:t>
            </a:fld>
            <a:endParaRPr lang="en-IN"/>
          </a:p>
        </p:txBody>
      </p:sp>
    </p:spTree>
    <p:extLst>
      <p:ext uri="{BB962C8B-B14F-4D97-AF65-F5344CB8AC3E}">
        <p14:creationId xmlns:p14="http://schemas.microsoft.com/office/powerpoint/2010/main" val="3943843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2552A-DD7E-C870-2848-05C452A8B5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777B22B-6F5D-B030-3C63-4F787F89661E}"/>
              </a:ext>
            </a:extLst>
          </p:cNvPr>
          <p:cNvSpPr>
            <a:spLocks noGrp="1"/>
          </p:cNvSpPr>
          <p:nvPr>
            <p:ph idx="1"/>
          </p:nvPr>
        </p:nvSpPr>
        <p:spPr>
          <a:xfrm>
            <a:off x="838200" y="2005012"/>
            <a:ext cx="10515600" cy="4351338"/>
          </a:xfrm>
        </p:spPr>
        <p:txBody>
          <a:bodyPr/>
          <a:lstStyle/>
          <a:p>
            <a:pPr marL="0" indent="0">
              <a:buNone/>
            </a:pPr>
            <a:r>
              <a:rPr dirty="0"/>
              <a:t>Many homes, hostels, and offices suffer from poor Wi‑Fi coverage due to walls, interference, and poor router placement. Users often cannot determine the root cause of connectivity issues. Existing enterprise survey tools are expensive. </a:t>
            </a:r>
            <a:r>
              <a:rPr dirty="0" err="1"/>
              <a:t>ChiralNet</a:t>
            </a:r>
            <a:r>
              <a:rPr dirty="0"/>
              <a:t> provides a low-cost solution for monitoring and diagnosing wireless network problems.</a:t>
            </a:r>
          </a:p>
        </p:txBody>
      </p:sp>
      <p:sp>
        <p:nvSpPr>
          <p:cNvPr id="4" name="Date Placeholder 3">
            <a:extLst>
              <a:ext uri="{FF2B5EF4-FFF2-40B4-BE49-F238E27FC236}">
                <a16:creationId xmlns:a16="http://schemas.microsoft.com/office/drawing/2014/main" id="{F6A4406D-30F6-E67B-43F9-DB22E880F7E9}"/>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47624C85-3C17-DC37-61A2-ECEFC845CE82}"/>
              </a:ext>
            </a:extLst>
          </p:cNvPr>
          <p:cNvSpPr>
            <a:spLocks noGrp="1"/>
          </p:cNvSpPr>
          <p:nvPr>
            <p:ph type="sldNum" sz="quarter" idx="12"/>
          </p:nvPr>
        </p:nvSpPr>
        <p:spPr/>
        <p:txBody>
          <a:bodyPr/>
          <a:lstStyle/>
          <a:p>
            <a:fld id="{75FB8137-F6AA-4E86-959E-1B3561B3F039}" type="slidenum">
              <a:rPr lang="en-IN" smtClean="0"/>
              <a:t>4</a:t>
            </a:fld>
            <a:endParaRPr lang="en-IN"/>
          </a:p>
        </p:txBody>
      </p:sp>
    </p:spTree>
    <p:extLst>
      <p:ext uri="{BB962C8B-B14F-4D97-AF65-F5344CB8AC3E}">
        <p14:creationId xmlns:p14="http://schemas.microsoft.com/office/powerpoint/2010/main" val="270359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05E14-EA18-75E4-82E3-E9F711D08A3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Description </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AD411AE-698A-DA77-2583-697C357762B4}"/>
              </a:ext>
            </a:extLst>
          </p:cNvPr>
          <p:cNvSpPr>
            <a:spLocks noGrp="1"/>
          </p:cNvSpPr>
          <p:nvPr>
            <p:ph idx="1"/>
          </p:nvPr>
        </p:nvSpPr>
        <p:spPr>
          <a:xfrm>
            <a:off x="838200" y="2005012"/>
            <a:ext cx="10515600" cy="4351338"/>
          </a:xfrm>
        </p:spPr>
        <p:txBody>
          <a:bodyPr/>
          <a:lstStyle/>
          <a:p>
            <a:pPr marL="0" indent="0">
              <a:buNone/>
            </a:pPr>
            <a:r>
              <a:rPr dirty="0"/>
              <a:t>The project uses distributed ESP32 nodes connected through MQTT to monitor wireless network performance. A backend server processes the collected data and displays it on a dashboard. Features include dead-zone detection, heatmap generation, congestion analysis, and router placement recommendations.</a:t>
            </a:r>
          </a:p>
        </p:txBody>
      </p:sp>
      <p:sp>
        <p:nvSpPr>
          <p:cNvPr id="4" name="Date Placeholder 3">
            <a:extLst>
              <a:ext uri="{FF2B5EF4-FFF2-40B4-BE49-F238E27FC236}">
                <a16:creationId xmlns:a16="http://schemas.microsoft.com/office/drawing/2014/main" id="{92AC5164-9C7D-856D-0012-ACDBF3D98ECA}"/>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4AD02D70-72E1-C1D5-E61F-5BC43FE32093}"/>
              </a:ext>
            </a:extLst>
          </p:cNvPr>
          <p:cNvSpPr>
            <a:spLocks noGrp="1"/>
          </p:cNvSpPr>
          <p:nvPr>
            <p:ph type="sldNum" sz="quarter" idx="12"/>
          </p:nvPr>
        </p:nvSpPr>
        <p:spPr/>
        <p:txBody>
          <a:bodyPr/>
          <a:lstStyle/>
          <a:p>
            <a:fld id="{75FB8137-F6AA-4E86-959E-1B3561B3F039}" type="slidenum">
              <a:rPr lang="en-IN" smtClean="0"/>
              <a:t>5</a:t>
            </a:fld>
            <a:endParaRPr lang="en-IN"/>
          </a:p>
        </p:txBody>
      </p:sp>
    </p:spTree>
    <p:extLst>
      <p:ext uri="{BB962C8B-B14F-4D97-AF65-F5344CB8AC3E}">
        <p14:creationId xmlns:p14="http://schemas.microsoft.com/office/powerpoint/2010/main" val="324268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23DE-006A-6D21-7A1B-81100D67FCA3}"/>
              </a:ext>
            </a:extLst>
          </p:cNvPr>
          <p:cNvSpPr>
            <a:spLocks noGrp="1"/>
          </p:cNvSpPr>
          <p:nvPr>
            <p:ph type="title"/>
          </p:nvPr>
        </p:nvSpPr>
        <p:spPr>
          <a:xfrm>
            <a:off x="838200" y="365125"/>
            <a:ext cx="9528110" cy="1325563"/>
          </a:xfrm>
        </p:spPr>
        <p:txBody>
          <a:bodyPr/>
          <a:lstStyle/>
          <a:p>
            <a:pPr algn="ctr"/>
            <a:r>
              <a:rPr lang="en-IN" b="1" dirty="0">
                <a:latin typeface="Times New Roman" panose="02020603050405020304" pitchFamily="18" charset="0"/>
                <a:cs typeface="Times New Roman" panose="02020603050405020304" pitchFamily="18" charset="0"/>
              </a:rPr>
              <a:t>Aim and Scope of the Proposed work</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6442FBF-3C19-FADB-A0F2-4D2D314891BC}"/>
              </a:ext>
            </a:extLst>
          </p:cNvPr>
          <p:cNvSpPr>
            <a:spLocks noGrp="1"/>
          </p:cNvSpPr>
          <p:nvPr>
            <p:ph idx="1"/>
          </p:nvPr>
        </p:nvSpPr>
        <p:spPr/>
        <p:txBody>
          <a:bodyPr>
            <a:normAutofit lnSpcReduction="10000"/>
          </a:bodyPr>
          <a:lstStyle/>
          <a:p>
            <a:pPr marL="0" indent="0">
              <a:buNone/>
            </a:pPr>
            <a:r>
              <a:rPr dirty="0"/>
              <a:t>Aim: To develop a low-cost IoT-based platform for analyzing Wi‑Fi coverage and optimizing wireless performance.</a:t>
            </a:r>
          </a:p>
          <a:p>
            <a:endParaRPr dirty="0"/>
          </a:p>
          <a:p>
            <a:pPr marL="0" indent="0">
              <a:buNone/>
            </a:pPr>
            <a:r>
              <a:rPr dirty="0"/>
              <a:t>Scope:</a:t>
            </a:r>
          </a:p>
          <a:p>
            <a:r>
              <a:rPr dirty="0"/>
              <a:t>Real-time Wi‑Fi monitoring</a:t>
            </a:r>
          </a:p>
          <a:p>
            <a:r>
              <a:rPr dirty="0"/>
              <a:t>Dead-zone detection</a:t>
            </a:r>
          </a:p>
          <a:p>
            <a:r>
              <a:rPr dirty="0"/>
              <a:t>Heatmap visualization</a:t>
            </a:r>
          </a:p>
          <a:p>
            <a:r>
              <a:rPr dirty="0"/>
              <a:t>Congestion analysis</a:t>
            </a:r>
          </a:p>
          <a:p>
            <a:r>
              <a:rPr dirty="0"/>
              <a:t>Router placement recommendations</a:t>
            </a:r>
          </a:p>
        </p:txBody>
      </p:sp>
      <p:sp>
        <p:nvSpPr>
          <p:cNvPr id="4" name="Date Placeholder 3">
            <a:extLst>
              <a:ext uri="{FF2B5EF4-FFF2-40B4-BE49-F238E27FC236}">
                <a16:creationId xmlns:a16="http://schemas.microsoft.com/office/drawing/2014/main" id="{6DB70EA2-B122-4403-A7C4-12DC32967153}"/>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9E14FBCF-98C0-5B59-27EC-1F6081985981}"/>
              </a:ext>
            </a:extLst>
          </p:cNvPr>
          <p:cNvSpPr>
            <a:spLocks noGrp="1"/>
          </p:cNvSpPr>
          <p:nvPr>
            <p:ph type="sldNum" sz="quarter" idx="12"/>
          </p:nvPr>
        </p:nvSpPr>
        <p:spPr/>
        <p:txBody>
          <a:bodyPr/>
          <a:lstStyle/>
          <a:p>
            <a:fld id="{75FB8137-F6AA-4E86-959E-1B3561B3F039}" type="slidenum">
              <a:rPr lang="en-IN" smtClean="0"/>
              <a:t>6</a:t>
            </a:fld>
            <a:endParaRPr lang="en-IN"/>
          </a:p>
        </p:txBody>
      </p:sp>
    </p:spTree>
    <p:extLst>
      <p:ext uri="{BB962C8B-B14F-4D97-AF65-F5344CB8AC3E}">
        <p14:creationId xmlns:p14="http://schemas.microsoft.com/office/powerpoint/2010/main" val="113397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A2C7-ECE5-50A2-EA22-8CB925FA92C7}"/>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Survey(1/2)</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61F0263-EAE1-004B-AFE4-F952EC819674}"/>
              </a:ext>
            </a:extLst>
          </p:cNvPr>
          <p:cNvSpPr>
            <a:spLocks noGrp="1"/>
          </p:cNvSpPr>
          <p:nvPr>
            <p:ph idx="1"/>
          </p:nvPr>
        </p:nvSpPr>
        <p:spPr>
          <a:xfrm>
            <a:off x="838200" y="1433739"/>
            <a:ext cx="10515600" cy="4351338"/>
          </a:xfrm>
        </p:spPr>
        <p:txBody>
          <a:bodyPr>
            <a:noAutofit/>
          </a:bodyPr>
          <a:lstStyle/>
          <a:p>
            <a:pPr marL="0" indent="0">
              <a:buNone/>
            </a:pPr>
            <a:r>
              <a:rPr lang="en-IN" sz="1800" b="1" dirty="0"/>
              <a:t>A Survey on Ubiquitous </a:t>
            </a:r>
            <a:r>
              <a:rPr lang="en-IN" sz="1800" b="1" dirty="0" err="1"/>
              <a:t>WiFi</a:t>
            </a:r>
            <a:r>
              <a:rPr lang="en-IN" sz="1800" b="1" dirty="0"/>
              <a:t>-Based Indoor Localization System</a:t>
            </a:r>
            <a:br>
              <a:rPr lang="en-IN" sz="1800" dirty="0"/>
            </a:br>
            <a:r>
              <a:rPr lang="en-IN" sz="1800" b="1" dirty="0"/>
              <a:t>Authors:</a:t>
            </a:r>
            <a:r>
              <a:rPr lang="en-IN" sz="1800" dirty="0"/>
              <a:t> P. Roy et al., 2022</a:t>
            </a:r>
          </a:p>
          <a:p>
            <a:pPr marL="0" indent="0">
              <a:buNone/>
            </a:pPr>
            <a:r>
              <a:rPr lang="en-IN" sz="1800" b="1" dirty="0"/>
              <a:t>Findings:</a:t>
            </a:r>
            <a:endParaRPr lang="en-IN" sz="1800" dirty="0"/>
          </a:p>
          <a:p>
            <a:r>
              <a:rPr lang="en-IN" sz="1800" dirty="0"/>
              <a:t>Reviews Wi-Fi RSSI-based indoor localization techniques.</a:t>
            </a:r>
          </a:p>
          <a:p>
            <a:r>
              <a:rPr lang="en-IN" sz="1800" dirty="0"/>
              <a:t>Discusses Wi-Fi fingerprinting and signal propagation.</a:t>
            </a:r>
          </a:p>
          <a:p>
            <a:r>
              <a:rPr lang="en-IN" sz="1800" dirty="0"/>
              <a:t>Focuses mainly on determining user location rather than diagnosing network performance.</a:t>
            </a:r>
          </a:p>
          <a:p>
            <a:pPr marL="0" indent="0">
              <a:buNone/>
            </a:pPr>
            <a:endParaRPr lang="en-IN" sz="1800" b="1" dirty="0"/>
          </a:p>
          <a:p>
            <a:pPr marL="0" indent="0">
              <a:buNone/>
            </a:pPr>
            <a:r>
              <a:rPr lang="en-IN" sz="1800" b="1" dirty="0"/>
              <a:t>Comprehensive Analysis of Applied Machine Learning in Wi-Fi Indoor Positioning</a:t>
            </a:r>
            <a:br>
              <a:rPr lang="en-IN" sz="1800" dirty="0"/>
            </a:br>
            <a:r>
              <a:rPr lang="en-IN" sz="1800" b="1" dirty="0"/>
              <a:t>Authors:</a:t>
            </a:r>
            <a:r>
              <a:rPr lang="en-IN" sz="1800" dirty="0"/>
              <a:t> V. Bellavista-Parent et al., 2022</a:t>
            </a:r>
          </a:p>
          <a:p>
            <a:pPr marL="0" indent="0">
              <a:buNone/>
            </a:pPr>
            <a:r>
              <a:rPr lang="en-IN" sz="1800" b="1" dirty="0"/>
              <a:t>Findings:</a:t>
            </a:r>
            <a:endParaRPr lang="en-IN" sz="1800" dirty="0"/>
          </a:p>
          <a:p>
            <a:r>
              <a:rPr lang="en-IN" sz="1800" dirty="0"/>
              <a:t>Explores machine learning techniques for Wi-Fi signal analysis.</a:t>
            </a:r>
          </a:p>
          <a:p>
            <a:r>
              <a:rPr lang="en-IN" sz="1800" dirty="0"/>
              <a:t>Uses RSSI and wireless features for indoor positioning.</a:t>
            </a:r>
          </a:p>
          <a:p>
            <a:r>
              <a:rPr lang="en-IN" sz="1800" dirty="0"/>
              <a:t>Primarily targets localization accuracy rather than network troubleshooting.</a:t>
            </a:r>
          </a:p>
          <a:p>
            <a:endParaRPr lang="en-IN" sz="1800" dirty="0"/>
          </a:p>
        </p:txBody>
      </p:sp>
      <p:sp>
        <p:nvSpPr>
          <p:cNvPr id="4" name="Date Placeholder 3">
            <a:extLst>
              <a:ext uri="{FF2B5EF4-FFF2-40B4-BE49-F238E27FC236}">
                <a16:creationId xmlns:a16="http://schemas.microsoft.com/office/drawing/2014/main" id="{80D60FC9-5D5E-D1B8-5BD7-65EC6B92B394}"/>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A7F8D311-C9E8-1065-7BFB-9C33AE212EFA}"/>
              </a:ext>
            </a:extLst>
          </p:cNvPr>
          <p:cNvSpPr>
            <a:spLocks noGrp="1"/>
          </p:cNvSpPr>
          <p:nvPr>
            <p:ph type="sldNum" sz="quarter" idx="12"/>
          </p:nvPr>
        </p:nvSpPr>
        <p:spPr/>
        <p:txBody>
          <a:bodyPr/>
          <a:lstStyle/>
          <a:p>
            <a:fld id="{75FB8137-F6AA-4E86-959E-1B3561B3F039}" type="slidenum">
              <a:rPr lang="en-IN" smtClean="0"/>
              <a:t>7</a:t>
            </a:fld>
            <a:endParaRPr lang="en-IN"/>
          </a:p>
        </p:txBody>
      </p:sp>
    </p:spTree>
    <p:extLst>
      <p:ext uri="{BB962C8B-B14F-4D97-AF65-F5344CB8AC3E}">
        <p14:creationId xmlns:p14="http://schemas.microsoft.com/office/powerpoint/2010/main" val="3219357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5C96A-194B-D331-E0D9-26C16AA09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7540A-401C-62B5-6A37-CC5BEE723C8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Survey(2/2)</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7D7F184-6DC1-4E90-EB38-760DE0E57B43}"/>
              </a:ext>
            </a:extLst>
          </p:cNvPr>
          <p:cNvSpPr>
            <a:spLocks noGrp="1"/>
          </p:cNvSpPr>
          <p:nvPr>
            <p:ph idx="1"/>
          </p:nvPr>
        </p:nvSpPr>
        <p:spPr>
          <a:xfrm>
            <a:off x="838200" y="1564368"/>
            <a:ext cx="10515600" cy="4351338"/>
          </a:xfrm>
        </p:spPr>
        <p:txBody>
          <a:bodyPr>
            <a:normAutofit/>
          </a:bodyPr>
          <a:lstStyle/>
          <a:p>
            <a:pPr marL="0" indent="0">
              <a:buNone/>
            </a:pPr>
            <a:r>
              <a:rPr lang="en-IN" sz="2000" b="1" dirty="0"/>
              <a:t>Existing Commercial Tools</a:t>
            </a:r>
          </a:p>
          <a:p>
            <a:r>
              <a:rPr lang="en-IN" sz="2000" b="1" dirty="0" err="1"/>
              <a:t>NetSpot</a:t>
            </a:r>
            <a:endParaRPr lang="en-IN" sz="2000" dirty="0"/>
          </a:p>
          <a:p>
            <a:r>
              <a:rPr lang="en-IN" sz="2000" dirty="0"/>
              <a:t>Generates Wi-Fi heatmaps.</a:t>
            </a:r>
          </a:p>
          <a:p>
            <a:r>
              <a:rPr lang="en-IN" sz="2000" dirty="0"/>
              <a:t>Performs manual wireless site surveys.</a:t>
            </a:r>
          </a:p>
          <a:p>
            <a:r>
              <a:rPr lang="en-IN" sz="2000" dirty="0"/>
              <a:t>Mainly provides signal visualization and measurement.</a:t>
            </a:r>
          </a:p>
          <a:p>
            <a:endParaRPr lang="en-IN" sz="2000" dirty="0"/>
          </a:p>
          <a:p>
            <a:r>
              <a:rPr lang="en-IN" sz="2000" b="1" dirty="0" err="1"/>
              <a:t>Ekahau</a:t>
            </a:r>
            <a:endParaRPr lang="en-IN" sz="2000" dirty="0"/>
          </a:p>
          <a:p>
            <a:r>
              <a:rPr lang="en-IN" sz="2000" dirty="0"/>
              <a:t>Enterprise-grade Wi-Fi planning and survey platform.</a:t>
            </a:r>
          </a:p>
          <a:p>
            <a:r>
              <a:rPr lang="en-IN" sz="2000" dirty="0"/>
              <a:t>Used by large organizations for professional wireless deployments.</a:t>
            </a:r>
          </a:p>
        </p:txBody>
      </p:sp>
      <p:sp>
        <p:nvSpPr>
          <p:cNvPr id="4" name="Date Placeholder 3">
            <a:extLst>
              <a:ext uri="{FF2B5EF4-FFF2-40B4-BE49-F238E27FC236}">
                <a16:creationId xmlns:a16="http://schemas.microsoft.com/office/drawing/2014/main" id="{248EBD4E-9690-D7EB-3429-3CD14550B613}"/>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37C97E31-63DD-D7FD-CE56-AE0E3DFCF329}"/>
              </a:ext>
            </a:extLst>
          </p:cNvPr>
          <p:cNvSpPr>
            <a:spLocks noGrp="1"/>
          </p:cNvSpPr>
          <p:nvPr>
            <p:ph type="sldNum" sz="quarter" idx="12"/>
          </p:nvPr>
        </p:nvSpPr>
        <p:spPr/>
        <p:txBody>
          <a:bodyPr/>
          <a:lstStyle/>
          <a:p>
            <a:fld id="{75FB8137-F6AA-4E86-959E-1B3561B3F039}" type="slidenum">
              <a:rPr lang="en-IN" smtClean="0"/>
              <a:t>8</a:t>
            </a:fld>
            <a:endParaRPr lang="en-IN"/>
          </a:p>
        </p:txBody>
      </p:sp>
    </p:spTree>
    <p:extLst>
      <p:ext uri="{BB962C8B-B14F-4D97-AF65-F5344CB8AC3E}">
        <p14:creationId xmlns:p14="http://schemas.microsoft.com/office/powerpoint/2010/main" val="84512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E1D2-B273-DF0C-5304-A3CB9ED4B90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Block Diagram Design</a:t>
            </a:r>
            <a:br>
              <a:rPr lang="en-IN" b="1" dirty="0">
                <a:latin typeface="Times New Roman" panose="02020603050405020304" pitchFamily="18"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664C3BD1-05A0-C114-3824-A22E1DE1F4BA}"/>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ED9F5297-F9B2-43BC-E08D-83131C1712B5}"/>
              </a:ext>
            </a:extLst>
          </p:cNvPr>
          <p:cNvSpPr>
            <a:spLocks noGrp="1"/>
          </p:cNvSpPr>
          <p:nvPr>
            <p:ph type="sldNum" sz="quarter" idx="12"/>
          </p:nvPr>
        </p:nvSpPr>
        <p:spPr/>
        <p:txBody>
          <a:bodyPr/>
          <a:lstStyle/>
          <a:p>
            <a:fld id="{75FB8137-F6AA-4E86-959E-1B3561B3F039}" type="slidenum">
              <a:rPr lang="en-IN" smtClean="0"/>
              <a:t>9</a:t>
            </a:fld>
            <a:endParaRPr lang="en-IN"/>
          </a:p>
        </p:txBody>
      </p:sp>
      <p:pic>
        <p:nvPicPr>
          <p:cNvPr id="9" name="Picture 8">
            <a:extLst>
              <a:ext uri="{FF2B5EF4-FFF2-40B4-BE49-F238E27FC236}">
                <a16:creationId xmlns:a16="http://schemas.microsoft.com/office/drawing/2014/main" id="{C02BFF96-7ED8-0B89-B08C-164D48BEB46D}"/>
              </a:ext>
            </a:extLst>
          </p:cNvPr>
          <p:cNvPicPr>
            <a:picLocks noChangeAspect="1"/>
          </p:cNvPicPr>
          <p:nvPr/>
        </p:nvPicPr>
        <p:blipFill>
          <a:blip r:embed="rId2"/>
          <a:stretch>
            <a:fillRect/>
          </a:stretch>
        </p:blipFill>
        <p:spPr>
          <a:xfrm>
            <a:off x="2414296" y="1159588"/>
            <a:ext cx="7363408" cy="4908939"/>
          </a:xfrm>
          <a:prstGeom prst="rect">
            <a:avLst/>
          </a:prstGeom>
        </p:spPr>
      </p:pic>
    </p:spTree>
    <p:extLst>
      <p:ext uri="{BB962C8B-B14F-4D97-AF65-F5344CB8AC3E}">
        <p14:creationId xmlns:p14="http://schemas.microsoft.com/office/powerpoint/2010/main" val="1382278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863B-60A3-2731-1F9E-C6E066103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E7493-AE78-1754-A1E9-BADB796D2E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System Architecture</a:t>
            </a:r>
            <a:br>
              <a:rPr lang="en-IN" b="1" dirty="0">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A1A6B8DB-7ED9-C413-9DA5-17580C0A8AB9}"/>
              </a:ext>
            </a:extLst>
          </p:cNvPr>
          <p:cNvPicPr>
            <a:picLocks noGrp="1" noChangeAspect="1"/>
          </p:cNvPicPr>
          <p:nvPr>
            <p:ph idx="1"/>
          </p:nvPr>
        </p:nvPicPr>
        <p:blipFill>
          <a:blip r:embed="rId2"/>
          <a:stretch>
            <a:fillRect/>
          </a:stretch>
        </p:blipFill>
        <p:spPr>
          <a:xfrm>
            <a:off x="2209800" y="1216007"/>
            <a:ext cx="7354078" cy="4902719"/>
          </a:xfrm>
          <a:prstGeom prst="rect">
            <a:avLst/>
          </a:prstGeom>
        </p:spPr>
      </p:pic>
      <p:sp>
        <p:nvSpPr>
          <p:cNvPr id="4" name="Date Placeholder 3">
            <a:extLst>
              <a:ext uri="{FF2B5EF4-FFF2-40B4-BE49-F238E27FC236}">
                <a16:creationId xmlns:a16="http://schemas.microsoft.com/office/drawing/2014/main" id="{5D2B7A5A-88B5-2067-F107-09573EC56D01}"/>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D2D9FE5E-6EFE-2950-5F24-F0F5D1775A64}"/>
              </a:ext>
            </a:extLst>
          </p:cNvPr>
          <p:cNvSpPr>
            <a:spLocks noGrp="1"/>
          </p:cNvSpPr>
          <p:nvPr>
            <p:ph type="sldNum" sz="quarter" idx="12"/>
          </p:nvPr>
        </p:nvSpPr>
        <p:spPr/>
        <p:txBody>
          <a:bodyPr/>
          <a:lstStyle/>
          <a:p>
            <a:fld id="{75FB8137-F6AA-4E86-959E-1B3561B3F039}" type="slidenum">
              <a:rPr lang="en-IN" smtClean="0"/>
              <a:t>10</a:t>
            </a:fld>
            <a:endParaRPr lang="en-IN"/>
          </a:p>
        </p:txBody>
      </p:sp>
    </p:spTree>
    <p:extLst>
      <p:ext uri="{BB962C8B-B14F-4D97-AF65-F5344CB8AC3E}">
        <p14:creationId xmlns:p14="http://schemas.microsoft.com/office/powerpoint/2010/main" val="3980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2F20F-996C-75D3-233A-2CF65D068C6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Hardware Component </a:t>
            </a:r>
            <a:br>
              <a:rPr lang="en-IN" b="1" dirty="0">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7976441C-8B22-99CA-11A6-3F25CE813F95}"/>
              </a:ext>
            </a:extLst>
          </p:cNvPr>
          <p:cNvPicPr>
            <a:picLocks noGrp="1" noChangeAspect="1"/>
          </p:cNvPicPr>
          <p:nvPr>
            <p:ph idx="1"/>
          </p:nvPr>
        </p:nvPicPr>
        <p:blipFill>
          <a:blip r:embed="rId2"/>
          <a:srcRect t="10051"/>
          <a:stretch>
            <a:fillRect/>
          </a:stretch>
        </p:blipFill>
        <p:spPr>
          <a:xfrm>
            <a:off x="2347754" y="1382777"/>
            <a:ext cx="7496492" cy="4495342"/>
          </a:xfrm>
          <a:prstGeom prst="rect">
            <a:avLst/>
          </a:prstGeom>
        </p:spPr>
      </p:pic>
      <p:sp>
        <p:nvSpPr>
          <p:cNvPr id="4" name="Date Placeholder 3">
            <a:extLst>
              <a:ext uri="{FF2B5EF4-FFF2-40B4-BE49-F238E27FC236}">
                <a16:creationId xmlns:a16="http://schemas.microsoft.com/office/drawing/2014/main" id="{889F1946-9482-8F30-D61C-AD0D89B1D05D}"/>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BA8551A6-385B-4923-FAE3-BAA471D95156}"/>
              </a:ext>
            </a:extLst>
          </p:cNvPr>
          <p:cNvSpPr>
            <a:spLocks noGrp="1"/>
          </p:cNvSpPr>
          <p:nvPr>
            <p:ph type="sldNum" sz="quarter" idx="12"/>
          </p:nvPr>
        </p:nvSpPr>
        <p:spPr/>
        <p:txBody>
          <a:bodyPr/>
          <a:lstStyle/>
          <a:p>
            <a:fld id="{75FB8137-F6AA-4E86-959E-1B3561B3F039}" type="slidenum">
              <a:rPr lang="en-IN" smtClean="0"/>
              <a:t>11</a:t>
            </a:fld>
            <a:endParaRPr lang="en-IN"/>
          </a:p>
        </p:txBody>
      </p:sp>
    </p:spTree>
    <p:extLst>
      <p:ext uri="{BB962C8B-B14F-4D97-AF65-F5344CB8AC3E}">
        <p14:creationId xmlns:p14="http://schemas.microsoft.com/office/powerpoint/2010/main" val="1462477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DF4-F332-7FCB-D182-25AAC29FECB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Planning</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67E9F48-BC40-72EF-86DE-62F096D93870}"/>
              </a:ext>
            </a:extLst>
          </p:cNvPr>
          <p:cNvSpPr>
            <a:spLocks noGrp="1"/>
          </p:cNvSpPr>
          <p:nvPr>
            <p:ph idx="1"/>
          </p:nvPr>
        </p:nvSpPr>
        <p:spPr/>
        <p:txBody>
          <a:bodyPr/>
          <a:lstStyle/>
          <a:p>
            <a:r>
              <a:t>Week 1: ESP32 Setup and Wi‑Fi Monitoring</a:t>
            </a:r>
          </a:p>
          <a:p>
            <a:r>
              <a:t>Week 2: MQTT Communication and Data Collection</a:t>
            </a:r>
          </a:p>
          <a:p>
            <a:r>
              <a:t>Week 3: Dashboard Development</a:t>
            </a:r>
          </a:p>
          <a:p>
            <a:r>
              <a:t>Week 4: Heatmap and Analytics</a:t>
            </a:r>
          </a:p>
          <a:p>
            <a:r>
              <a:t>Week 5: Testing and Optimization</a:t>
            </a:r>
          </a:p>
          <a:p>
            <a:r>
              <a:t>Week 6: Documentation and Final Presentation</a:t>
            </a:r>
          </a:p>
        </p:txBody>
      </p:sp>
      <p:sp>
        <p:nvSpPr>
          <p:cNvPr id="4" name="Date Placeholder 3">
            <a:extLst>
              <a:ext uri="{FF2B5EF4-FFF2-40B4-BE49-F238E27FC236}">
                <a16:creationId xmlns:a16="http://schemas.microsoft.com/office/drawing/2014/main" id="{A59B1074-C6B2-2A1D-7D78-3FADF2E8C787}"/>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126BD213-BEC3-9A32-F49F-74DC7815D3B5}"/>
              </a:ext>
            </a:extLst>
          </p:cNvPr>
          <p:cNvSpPr>
            <a:spLocks noGrp="1"/>
          </p:cNvSpPr>
          <p:nvPr>
            <p:ph type="sldNum" sz="quarter" idx="12"/>
          </p:nvPr>
        </p:nvSpPr>
        <p:spPr/>
        <p:txBody>
          <a:bodyPr/>
          <a:lstStyle/>
          <a:p>
            <a:fld id="{75FB8137-F6AA-4E86-959E-1B3561B3F039}" type="slidenum">
              <a:rPr lang="en-IN" smtClean="0"/>
              <a:t>12</a:t>
            </a:fld>
            <a:endParaRPr lang="en-IN"/>
          </a:p>
        </p:txBody>
      </p:sp>
    </p:spTree>
    <p:extLst>
      <p:ext uri="{BB962C8B-B14F-4D97-AF65-F5344CB8AC3E}">
        <p14:creationId xmlns:p14="http://schemas.microsoft.com/office/powerpoint/2010/main" val="3985869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ECCF3-3E53-76B9-8D7D-1F430F80C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4B3C6-A40C-789A-3D30-B578A233C11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B02CED0-2A7C-C7EC-673B-CCC78773A5E7}"/>
              </a:ext>
            </a:extLst>
          </p:cNvPr>
          <p:cNvSpPr>
            <a:spLocks noGrp="1"/>
          </p:cNvSpPr>
          <p:nvPr>
            <p:ph idx="1"/>
          </p:nvPr>
        </p:nvSpPr>
        <p:spPr>
          <a:xfrm>
            <a:off x="838200" y="1690688"/>
            <a:ext cx="10515600" cy="4351338"/>
          </a:xfrm>
        </p:spPr>
        <p:txBody>
          <a:bodyPr>
            <a:normAutofit/>
          </a:bodyPr>
          <a:lstStyle/>
          <a:p>
            <a:r>
              <a:rPr lang="en-IN" sz="2200" b="1" dirty="0"/>
              <a:t>Adaptive Node Operation</a:t>
            </a:r>
          </a:p>
          <a:p>
            <a:pPr marL="0" indent="0">
              <a:buNone/>
            </a:pPr>
            <a:r>
              <a:rPr lang="en-IN" sz="2200" dirty="0"/>
              <a:t>	Dynamic switching between </a:t>
            </a:r>
            <a:r>
              <a:rPr lang="en-IN" sz="2200" b="1" dirty="0"/>
              <a:t>Monitoring Mode</a:t>
            </a:r>
            <a:r>
              <a:rPr lang="en-IN" sz="2200" dirty="0"/>
              <a:t> and </a:t>
            </a:r>
            <a:r>
              <a:rPr lang="en-IN" sz="2200" b="1" dirty="0"/>
              <a:t>Repeater Mode</a:t>
            </a:r>
            <a:r>
              <a:rPr lang="en-IN" sz="2200" dirty="0"/>
              <a:t> based on network conditions. </a:t>
            </a:r>
          </a:p>
          <a:p>
            <a:pPr marL="0" indent="0">
              <a:buNone/>
            </a:pPr>
            <a:endParaRPr lang="en-IN" sz="2200" dirty="0"/>
          </a:p>
          <a:p>
            <a:r>
              <a:rPr lang="en-IN" sz="2200" b="1" dirty="0"/>
              <a:t>Automatic Router Optimization</a:t>
            </a:r>
          </a:p>
          <a:p>
            <a:pPr marL="0" indent="0">
              <a:buNone/>
            </a:pPr>
            <a:r>
              <a:rPr lang="en-IN" sz="2200" dirty="0"/>
              <a:t>	Integration with router APIs for automatic Wi-Fi channel selection and optimization. </a:t>
            </a:r>
          </a:p>
          <a:p>
            <a:pPr marL="0" indent="0">
              <a:buNone/>
            </a:pPr>
            <a:endParaRPr lang="en-IN" sz="2200" dirty="0"/>
          </a:p>
          <a:p>
            <a:r>
              <a:rPr lang="en-IN" sz="2200" b="1" dirty="0"/>
              <a:t>AI-Based Root Cause Analysis</a:t>
            </a:r>
          </a:p>
          <a:p>
            <a:pPr marL="0" indent="0">
              <a:buNone/>
            </a:pPr>
            <a:r>
              <a:rPr lang="en-IN" sz="2200" dirty="0"/>
              <a:t>	Replace rule-based diagnosis with machine learning models for higher diagnostic accuracy. </a:t>
            </a:r>
          </a:p>
          <a:p>
            <a:endParaRPr sz="2200" dirty="0"/>
          </a:p>
        </p:txBody>
      </p:sp>
      <p:sp>
        <p:nvSpPr>
          <p:cNvPr id="4" name="Date Placeholder 3">
            <a:extLst>
              <a:ext uri="{FF2B5EF4-FFF2-40B4-BE49-F238E27FC236}">
                <a16:creationId xmlns:a16="http://schemas.microsoft.com/office/drawing/2014/main" id="{1DC5BAF5-EAD7-9D8A-B20B-8F9DF635E7FF}"/>
              </a:ext>
            </a:extLst>
          </p:cNvPr>
          <p:cNvSpPr>
            <a:spLocks noGrp="1"/>
          </p:cNvSpPr>
          <p:nvPr>
            <p:ph type="dt" sz="half" idx="10"/>
          </p:nvPr>
        </p:nvSpPr>
        <p:spPr/>
        <p:txBody>
          <a:bodyPr/>
          <a:lstStyle/>
          <a:p>
            <a:fld id="{A9FDA45F-F1CD-41DA-BA29-EE146599C94B}" type="datetime1">
              <a:rPr lang="en-IN" smtClean="0"/>
              <a:t>26-06-2026</a:t>
            </a:fld>
            <a:endParaRPr lang="en-IN"/>
          </a:p>
        </p:txBody>
      </p:sp>
      <p:sp>
        <p:nvSpPr>
          <p:cNvPr id="5" name="Slide Number Placeholder 4">
            <a:extLst>
              <a:ext uri="{FF2B5EF4-FFF2-40B4-BE49-F238E27FC236}">
                <a16:creationId xmlns:a16="http://schemas.microsoft.com/office/drawing/2014/main" id="{F8F67C28-11DF-6CE7-6B4A-CC79FB642228}"/>
              </a:ext>
            </a:extLst>
          </p:cNvPr>
          <p:cNvSpPr>
            <a:spLocks noGrp="1"/>
          </p:cNvSpPr>
          <p:nvPr>
            <p:ph type="sldNum" sz="quarter" idx="12"/>
          </p:nvPr>
        </p:nvSpPr>
        <p:spPr/>
        <p:txBody>
          <a:bodyPr/>
          <a:lstStyle/>
          <a:p>
            <a:fld id="{75FB8137-F6AA-4E86-959E-1B3561B3F039}" type="slidenum">
              <a:rPr lang="en-IN" smtClean="0"/>
              <a:t>13</a:t>
            </a:fld>
            <a:endParaRPr lang="en-IN"/>
          </a:p>
        </p:txBody>
      </p:sp>
    </p:spTree>
    <p:extLst>
      <p:ext uri="{BB962C8B-B14F-4D97-AF65-F5344CB8AC3E}">
        <p14:creationId xmlns:p14="http://schemas.microsoft.com/office/powerpoint/2010/main" val="92456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TotalTime>
  <Words>552</Words>
  <Application>Microsoft Office PowerPoint</Application>
  <PresentationFormat>Widescreen</PresentationFormat>
  <Paragraphs>98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 CONTENTS</vt:lpstr>
      <vt:lpstr>Introduction </vt:lpstr>
      <vt:lpstr>Problem Statement  </vt:lpstr>
      <vt:lpstr>Project Description  </vt:lpstr>
      <vt:lpstr>Aim and Scope of the Proposed work </vt:lpstr>
      <vt:lpstr>Literature Survey(1/2) </vt:lpstr>
      <vt:lpstr>Literature Survey(2/2) </vt:lpstr>
      <vt:lpstr>Block Diagram Design </vt:lpstr>
      <vt:lpstr>System Architecture </vt:lpstr>
      <vt:lpstr>Hardware Component  </vt:lpstr>
      <vt:lpstr>Project Planning </vt:lpstr>
      <vt:lpstr>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Muthupandi G.</dc:creator>
  <cp:lastModifiedBy>DAKSHAN KUMAR</cp:lastModifiedBy>
  <cp:revision>73</cp:revision>
  <dcterms:created xsi:type="dcterms:W3CDTF">2024-07-31T06:42:35Z</dcterms:created>
  <dcterms:modified xsi:type="dcterms:W3CDTF">2026-06-26T06:45:54Z</dcterms:modified>
</cp:coreProperties>
</file>